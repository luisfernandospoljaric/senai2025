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8"/>
  </p:notesMasterIdLst>
  <p:sldIdLst>
    <p:sldId id="278" r:id="rId5"/>
    <p:sldId id="282" r:id="rId6"/>
    <p:sldId id="283" r:id="rId7"/>
    <p:sldId id="1279" r:id="rId8"/>
    <p:sldId id="1384" r:id="rId9"/>
    <p:sldId id="1386" r:id="rId10"/>
    <p:sldId id="1385" r:id="rId11"/>
    <p:sldId id="1351" r:id="rId12"/>
    <p:sldId id="1387" r:id="rId13"/>
    <p:sldId id="1388" r:id="rId14"/>
    <p:sldId id="1389" r:id="rId15"/>
    <p:sldId id="1353" r:id="rId16"/>
    <p:sldId id="1390" r:id="rId17"/>
    <p:sldId id="1391" r:id="rId18"/>
    <p:sldId id="1392" r:id="rId19"/>
    <p:sldId id="1393" r:id="rId20"/>
    <p:sldId id="1394" r:id="rId21"/>
    <p:sldId id="1395" r:id="rId22"/>
    <p:sldId id="1396" r:id="rId23"/>
    <p:sldId id="1397" r:id="rId24"/>
    <p:sldId id="1377" r:id="rId25"/>
    <p:sldId id="1398" r:id="rId26"/>
    <p:sldId id="1383" r:id="rId27"/>
  </p:sldIdLst>
  <p:sldSz cx="20104100" cy="11309350"/>
  <p:notesSz cx="20104100" cy="11309350"/>
  <p:embeddedFontLst>
    <p:embeddedFont>
      <p:font typeface="游ゴシック" panose="020B0400000000000000" pitchFamily="34" charset="-128"/>
      <p:regular r:id="rId29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ExtraBold" panose="00000900000000000000" pitchFamily="2" charset="0"/>
      <p:bold r:id="rId35"/>
      <p:boldItalic r:id="rId36"/>
    </p:embeddedFont>
    <p:embeddedFont>
      <p:font typeface="Montserrat Light" panose="00000400000000000000" pitchFamily="2" charset="0"/>
      <p:regular r:id="rId37"/>
      <p:italic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45" d="100"/>
          <a:sy n="45" d="100"/>
        </p:scale>
        <p:origin x="5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28/04/2025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orld_Economic_Forum" TargetMode="External"/><Relationship Id="rId3" Type="http://schemas.openxmlformats.org/officeDocument/2006/relationships/hyperlink" Target="https://en-m-wikipedia-org.translate.goog/wiki/Sustainable_development?_x_tr_sl=en&amp;_x_tr_tl=pt&amp;_x_tr_hl=pt-BR&amp;_x_tr_pto=sc" TargetMode="External"/><Relationship Id="rId7" Type="http://schemas.openxmlformats.org/officeDocument/2006/relationships/hyperlink" Target="https://en.wikipedia.org/wiki/Economis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Engineer" TargetMode="External"/><Relationship Id="rId5" Type="http://schemas.openxmlformats.org/officeDocument/2006/relationships/hyperlink" Target="https://en.wikipedia.org/wiki/Help:IPA/Standard_German" TargetMode="External"/><Relationship Id="rId4" Type="http://schemas.openxmlformats.org/officeDocument/2006/relationships/hyperlink" Target="https://en-m-wikipedia-org.translate.goog/wiki/Germany?_x_tr_sl=en&amp;_x_tr_tl=pt&amp;_x_tr_hl=pt-BR&amp;_x_tr_pto=sc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Acatech</a:t>
            </a:r>
            <a:r>
              <a:rPr lang="en-US" dirty="0"/>
              <a:t> (</a:t>
            </a:r>
            <a:r>
              <a:rPr lang="en-US" dirty="0" err="1"/>
              <a:t>denominado</a:t>
            </a:r>
            <a:r>
              <a:rPr lang="en-US" dirty="0"/>
              <a:t> </a:t>
            </a:r>
            <a:r>
              <a:rPr lang="en-US" i="1" dirty="0" err="1"/>
              <a:t>acatech</a:t>
            </a:r>
            <a:r>
              <a:rPr lang="en-US" i="1" dirty="0"/>
              <a:t>),</a:t>
            </a:r>
            <a:r>
              <a:rPr lang="en-US" dirty="0"/>
              <a:t> </a:t>
            </a:r>
            <a:r>
              <a:rPr lang="en-US" dirty="0" err="1"/>
              <a:t>fundada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2002 e </a:t>
            </a:r>
            <a:r>
              <a:rPr lang="en-US" dirty="0" err="1"/>
              <a:t>estabelecida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 </a:t>
            </a:r>
            <a:r>
              <a:rPr lang="en-US" b="1" dirty="0"/>
              <a:t>Academia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Ciência</a:t>
            </a:r>
            <a:r>
              <a:rPr lang="en-US" b="1" dirty="0"/>
              <a:t> e </a:t>
            </a:r>
            <a:r>
              <a:rPr lang="en-US" b="1" dirty="0" err="1"/>
              <a:t>Engenharia</a:t>
            </a:r>
            <a:r>
              <a:rPr lang="en-US" b="1" dirty="0"/>
              <a:t>, </a:t>
            </a:r>
            <a:r>
              <a:rPr lang="en-US" dirty="0"/>
              <a:t>A </a:t>
            </a:r>
            <a:r>
              <a:rPr lang="en-US" dirty="0" err="1"/>
              <a:t>acatech</a:t>
            </a:r>
            <a:r>
              <a:rPr lang="en-US" dirty="0"/>
              <a:t> é </a:t>
            </a:r>
            <a:r>
              <a:rPr lang="en-US" dirty="0" err="1"/>
              <a:t>organizada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academia de </a:t>
            </a:r>
            <a:r>
              <a:rPr lang="en-US" dirty="0" err="1"/>
              <a:t>trabalho</a:t>
            </a:r>
            <a:r>
              <a:rPr lang="en-US" dirty="0"/>
              <a:t> que </a:t>
            </a:r>
            <a:r>
              <a:rPr lang="en-US" dirty="0" err="1"/>
              <a:t>assessora</a:t>
            </a:r>
            <a:r>
              <a:rPr lang="en-US" dirty="0"/>
              <a:t> </a:t>
            </a:r>
            <a:r>
              <a:rPr lang="en-US" dirty="0" err="1"/>
              <a:t>políticos</a:t>
            </a:r>
            <a:r>
              <a:rPr lang="en-US" dirty="0"/>
              <a:t> e o </a:t>
            </a:r>
            <a:r>
              <a:rPr lang="en-US" dirty="0" err="1"/>
              <a:t>público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futuras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ciências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 e </a:t>
            </a:r>
            <a:r>
              <a:rPr lang="en-US" dirty="0" err="1"/>
              <a:t>políticas</a:t>
            </a:r>
            <a:r>
              <a:rPr lang="en-US" dirty="0"/>
              <a:t> de </a:t>
            </a:r>
            <a:r>
              <a:rPr lang="en-US" dirty="0" err="1"/>
              <a:t>tecnologia</a:t>
            </a:r>
            <a:r>
              <a:rPr lang="en-US" dirty="0"/>
              <a:t>. A academia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instituição</a:t>
            </a:r>
            <a:r>
              <a:rPr lang="en-US" dirty="0"/>
              <a:t> que </a:t>
            </a:r>
            <a:r>
              <a:rPr lang="en-US" dirty="0" err="1"/>
              <a:t>fornece</a:t>
            </a:r>
            <a:r>
              <a:rPr lang="en-US" dirty="0"/>
              <a:t>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neutras</a:t>
            </a:r>
            <a:r>
              <a:rPr lang="en-US" dirty="0"/>
              <a:t>, </a:t>
            </a:r>
            <a:r>
              <a:rPr lang="en-US" dirty="0" err="1"/>
              <a:t>baseadas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fatos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 de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relacionadas</a:t>
            </a:r>
            <a:r>
              <a:rPr lang="en-US" dirty="0"/>
              <a:t> à </a:t>
            </a:r>
            <a:r>
              <a:rPr lang="en-US" dirty="0" err="1"/>
              <a:t>tecnologia</a:t>
            </a:r>
            <a:r>
              <a:rPr lang="en-US" dirty="0"/>
              <a:t> e </a:t>
            </a:r>
            <a:r>
              <a:rPr lang="en-US" dirty="0" err="1"/>
              <a:t>atende</a:t>
            </a:r>
            <a:r>
              <a:rPr lang="en-US" dirty="0"/>
              <a:t> à </a:t>
            </a:r>
            <a:r>
              <a:rPr lang="en-US" dirty="0" err="1"/>
              <a:t>sociedade</a:t>
            </a:r>
            <a:r>
              <a:rPr lang="en-US" dirty="0"/>
              <a:t> com </a:t>
            </a:r>
            <a:r>
              <a:rPr lang="en-US" dirty="0" err="1"/>
              <a:t>recomendações</a:t>
            </a:r>
            <a:r>
              <a:rPr lang="en-US" dirty="0"/>
              <a:t> </a:t>
            </a:r>
            <a:r>
              <a:rPr lang="en-US" dirty="0" err="1"/>
              <a:t>perspicazes</a:t>
            </a:r>
            <a:r>
              <a:rPr lang="en-US" dirty="0"/>
              <a:t> de </a:t>
            </a:r>
            <a:r>
              <a:rPr lang="en-US" dirty="0" err="1"/>
              <a:t>excelente</a:t>
            </a:r>
            <a:r>
              <a:rPr lang="en-US" dirty="0"/>
              <a:t> </a:t>
            </a:r>
            <a:r>
              <a:rPr lang="en-US" dirty="0" err="1"/>
              <a:t>qualidade</a:t>
            </a:r>
            <a:r>
              <a:rPr lang="en-US" dirty="0"/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A forma de atuação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caracterizada pela estreita articulação entre ciência e negócios. O objetivo primordial do trabalho da </a:t>
            </a:r>
            <a:r>
              <a:rPr lang="pt-BR" b="0" i="0" dirty="0" err="1">
                <a:solidFill>
                  <a:srgbClr val="202122"/>
                </a:solidFill>
                <a:effectLst/>
                <a:latin typeface="-apple-system"/>
              </a:rPr>
              <a:t>acatech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 é promover o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3" tooltip="Desenvolvimento sustentável"/>
              </a:rPr>
              <a:t>crescimento sustentável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por meio de mais inovação na </a:t>
            </a:r>
            <a:r>
              <a:rPr lang="pt-BR" b="0" i="0" u="none" strike="noStrike" dirty="0">
                <a:solidFill>
                  <a:srgbClr val="3366CC"/>
                </a:solidFill>
                <a:effectLst/>
                <a:latin typeface="-apple-system"/>
                <a:hlinkClick r:id="rId4" tooltip="Alemanha"/>
              </a:rPr>
              <a:t>Alemanha</a:t>
            </a:r>
            <a:r>
              <a:rPr lang="pt-BR" b="0" i="0" dirty="0">
                <a:solidFill>
                  <a:srgbClr val="202122"/>
                </a:solidFill>
                <a:effectLst/>
                <a:latin typeface="-apple-system"/>
              </a:rPr>
              <a:t> . Isto implica a avaliação das potencialidades, oportunidades e riscos de novos desenvolvimentos técnicos.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VDMA: A </a:t>
            </a:r>
            <a:r>
              <a:rPr lang="en-US" b="1" dirty="0" err="1"/>
              <a:t>Associação</a:t>
            </a:r>
            <a:r>
              <a:rPr lang="en-US" b="1" dirty="0"/>
              <a:t> </a:t>
            </a:r>
            <a:r>
              <a:rPr lang="en-US" b="1" dirty="0" err="1"/>
              <a:t>Alemã</a:t>
            </a:r>
            <a:r>
              <a:rPr lang="en-US" b="1" dirty="0"/>
              <a:t> de </a:t>
            </a:r>
            <a:r>
              <a:rPr lang="en-US" b="1" dirty="0" err="1"/>
              <a:t>Fabricantes</a:t>
            </a:r>
            <a:r>
              <a:rPr lang="en-US" b="1" dirty="0"/>
              <a:t> de </a:t>
            </a:r>
            <a:r>
              <a:rPr lang="en-US" b="1" dirty="0" err="1"/>
              <a:t>Máquinas</a:t>
            </a:r>
            <a:r>
              <a:rPr lang="en-US" b="1" dirty="0"/>
              <a:t> e </a:t>
            </a:r>
            <a:r>
              <a:rPr lang="en-US" b="1" dirty="0" err="1"/>
              <a:t>Instalações</a:t>
            </a:r>
            <a:r>
              <a:rPr lang="en-US" b="1" dirty="0"/>
              <a:t> </a:t>
            </a:r>
            <a:r>
              <a:rPr lang="en-US" b="1" dirty="0" err="1"/>
              <a:t>Industriais</a:t>
            </a:r>
            <a:r>
              <a:rPr lang="en-US" dirty="0"/>
              <a:t> (</a:t>
            </a:r>
            <a:r>
              <a:rPr lang="en-US" b="1" dirty="0" err="1"/>
              <a:t>Verband</a:t>
            </a:r>
            <a:r>
              <a:rPr lang="en-US" b="1" dirty="0"/>
              <a:t> </a:t>
            </a:r>
            <a:r>
              <a:rPr lang="en-US" b="1" dirty="0" err="1"/>
              <a:t>Deutscher</a:t>
            </a:r>
            <a:r>
              <a:rPr lang="en-US" b="1" dirty="0"/>
              <a:t> </a:t>
            </a:r>
            <a:r>
              <a:rPr lang="en-US" b="1" dirty="0" err="1"/>
              <a:t>Maschinen</a:t>
            </a:r>
            <a:r>
              <a:rPr lang="en-US" b="1" dirty="0"/>
              <a:t> - und </a:t>
            </a:r>
            <a:r>
              <a:rPr lang="en-US" b="1" dirty="0" err="1"/>
              <a:t>Anlagenbau</a:t>
            </a:r>
            <a:r>
              <a:rPr lang="en-US" b="1" dirty="0"/>
              <a:t> </a:t>
            </a:r>
            <a:r>
              <a:rPr lang="en-US" b="1" dirty="0" err="1"/>
              <a:t>e.V</a:t>
            </a:r>
            <a:r>
              <a:rPr lang="en-US" b="1" dirty="0"/>
              <a:t> VDMA)</a:t>
            </a:r>
            <a:r>
              <a:rPr lang="en-US" dirty="0"/>
              <a:t>, </a:t>
            </a:r>
            <a:r>
              <a:rPr lang="en-US" dirty="0" err="1"/>
              <a:t>nascida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1892, com </a:t>
            </a:r>
            <a:r>
              <a:rPr lang="en-US" dirty="0" err="1"/>
              <a:t>sede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Frankfurt am Main, </a:t>
            </a:r>
            <a:r>
              <a:rPr lang="en-US" dirty="0" err="1"/>
              <a:t>reúne</a:t>
            </a:r>
            <a:r>
              <a:rPr lang="en-US" dirty="0"/>
              <a:t> 3.300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associadas</a:t>
            </a:r>
            <a:r>
              <a:rPr lang="en-US" dirty="0"/>
              <a:t>, o que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confere</a:t>
            </a:r>
            <a:r>
              <a:rPr lang="en-US" dirty="0"/>
              <a:t> a </a:t>
            </a:r>
            <a:r>
              <a:rPr lang="en-US" dirty="0" err="1"/>
              <a:t>posição</a:t>
            </a:r>
            <a:r>
              <a:rPr lang="en-US" dirty="0"/>
              <a:t> de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associação</a:t>
            </a:r>
            <a:r>
              <a:rPr lang="en-US" dirty="0"/>
              <a:t> industrial da Europa. A VDMA se </a:t>
            </a:r>
            <a:r>
              <a:rPr lang="en-US" dirty="0" err="1"/>
              <a:t>vê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qual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empresas</a:t>
            </a:r>
            <a:r>
              <a:rPr lang="en-US" dirty="0"/>
              <a:t> </a:t>
            </a:r>
            <a:r>
              <a:rPr lang="en-US" dirty="0" err="1"/>
              <a:t>membros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trocar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desafios</a:t>
            </a:r>
            <a:r>
              <a:rPr lang="en-US" dirty="0"/>
              <a:t> </a:t>
            </a:r>
            <a:r>
              <a:rPr lang="en-US" dirty="0" err="1"/>
              <a:t>técnicos</a:t>
            </a:r>
            <a:r>
              <a:rPr lang="en-US" dirty="0"/>
              <a:t>, </a:t>
            </a:r>
            <a:r>
              <a:rPr lang="en-US" dirty="0" err="1"/>
              <a:t>questões</a:t>
            </a:r>
            <a:r>
              <a:rPr lang="en-US" dirty="0"/>
              <a:t> </a:t>
            </a:r>
            <a:r>
              <a:rPr lang="en-US" dirty="0" err="1"/>
              <a:t>interdisciplinares</a:t>
            </a:r>
            <a:r>
              <a:rPr lang="en-US" dirty="0"/>
              <a:t> e </a:t>
            </a:r>
            <a:r>
              <a:rPr lang="en-US" dirty="0" err="1"/>
              <a:t>muitos</a:t>
            </a:r>
            <a:r>
              <a:rPr lang="en-US" dirty="0"/>
              <a:t> outros </a:t>
            </a:r>
            <a:r>
              <a:rPr lang="en-US" dirty="0" err="1"/>
              <a:t>tópicos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numerosas</a:t>
            </a:r>
            <a:r>
              <a:rPr lang="en-US" dirty="0"/>
              <a:t> redes.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Calibri"/>
              </a:rPr>
              <a:t>Klaus Schwab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Klaus Martin </a:t>
            </a:r>
            <a:r>
              <a:rPr lang="pt-BR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Schwab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 </a:t>
            </a:r>
            <a:r>
              <a:rPr lang="pt-BR" dirty="0">
                <a:effectLst/>
              </a:rPr>
              <a:t>pronúncia alemã: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[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klaʊs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ˈ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maʁtiːn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 </a:t>
            </a:r>
            <a:r>
              <a:rPr lang="pt-BR" b="0" i="0" u="none" strike="noStrike" dirty="0" err="1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ʃvaːp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Ajuda: IPA/Alemão padrão"/>
              </a:rPr>
              <a:t>]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; nascido em 30 de março de 1938) é um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Engenheiro"/>
              </a:rPr>
              <a:t>engenheiro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,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Economista"/>
              </a:rPr>
              <a:t>economista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 fundador alemão </a:t>
            </a:r>
            <a:r>
              <a:rPr lang="pt-BR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Fórum Econômico Mundial"/>
              </a:rPr>
              <a:t>do Fórum Econômico Mundial (WEF)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. Ele atuou como presidente do WEF desde a fundação da organização em 1971</a:t>
            </a:r>
            <a:endParaRPr lang="en-US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r>
              <a:rPr lang="en-US" dirty="0"/>
              <a:t>Kai-Fu Lee (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開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復</a:t>
            </a:r>
            <a:r>
              <a:rPr lang="en-US" dirty="0"/>
              <a:t>; </a:t>
            </a:r>
            <a:r>
              <a:rPr lang="en-US" dirty="0" err="1"/>
              <a:t>chinês</a:t>
            </a:r>
            <a:r>
              <a:rPr lang="en-US" dirty="0"/>
              <a:t> </a:t>
            </a:r>
            <a:r>
              <a:rPr lang="en-US" dirty="0" err="1"/>
              <a:t>simplificado</a:t>
            </a:r>
            <a:r>
              <a:rPr lang="en-US" dirty="0"/>
              <a:t> :</a:t>
            </a:r>
            <a:r>
              <a:rPr lang="ja-JP" altLang="en-US" dirty="0">
                <a:ea typeface="游ゴシック"/>
              </a:rPr>
              <a:t>李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开</a:t>
            </a:r>
            <a:r>
              <a:rPr lang="en-US" altLang="ja-JP" dirty="0">
                <a:ea typeface="游ゴシック"/>
              </a:rPr>
              <a:t> </a:t>
            </a:r>
            <a:r>
              <a:rPr lang="ja-JP" altLang="en-US" dirty="0">
                <a:ea typeface="游ゴシック"/>
              </a:rPr>
              <a:t>复</a:t>
            </a:r>
            <a:r>
              <a:rPr lang="en-US" dirty="0"/>
              <a:t>; pinyin : </a:t>
            </a:r>
            <a:r>
              <a:rPr lang="en-US" dirty="0" err="1"/>
              <a:t>Lǐ</a:t>
            </a:r>
            <a:r>
              <a:rPr lang="en-US" dirty="0"/>
              <a:t> </a:t>
            </a:r>
            <a:r>
              <a:rPr lang="en-US" dirty="0" err="1"/>
              <a:t>Kāifù</a:t>
            </a:r>
            <a:r>
              <a:rPr lang="en-US" dirty="0"/>
              <a:t> ; </a:t>
            </a:r>
            <a:r>
              <a:rPr lang="en-US" dirty="0" err="1"/>
              <a:t>nascido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3 de </a:t>
            </a:r>
            <a:r>
              <a:rPr lang="en-US" dirty="0" err="1"/>
              <a:t>dezembro</a:t>
            </a:r>
            <a:r>
              <a:rPr lang="en-US" dirty="0"/>
              <a:t> de 1961) é um </a:t>
            </a:r>
            <a:r>
              <a:rPr lang="en-US" dirty="0" err="1"/>
              <a:t>cientista</a:t>
            </a:r>
            <a:r>
              <a:rPr lang="en-US" dirty="0"/>
              <a:t> da </a:t>
            </a:r>
            <a:r>
              <a:rPr lang="en-US" dirty="0" err="1"/>
              <a:t>computação</a:t>
            </a:r>
            <a:r>
              <a:rPr lang="en-US" dirty="0"/>
              <a:t>, </a:t>
            </a:r>
            <a:r>
              <a:rPr lang="en-US" dirty="0" err="1"/>
              <a:t>empresário</a:t>
            </a:r>
            <a:r>
              <a:rPr lang="en-US" dirty="0"/>
              <a:t> e </a:t>
            </a:r>
            <a:r>
              <a:rPr lang="en-US" dirty="0" err="1"/>
              <a:t>escritor</a:t>
            </a:r>
            <a:r>
              <a:rPr lang="en-US" dirty="0"/>
              <a:t> </a:t>
            </a:r>
            <a:r>
              <a:rPr lang="en-US" dirty="0" err="1"/>
              <a:t>taiwanês</a:t>
            </a:r>
            <a:r>
              <a:rPr lang="en-US" dirty="0"/>
              <a:t> . Ele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atualmente</a:t>
            </a:r>
            <a:r>
              <a:rPr lang="en-US" dirty="0"/>
              <a:t>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Pequim</a:t>
            </a:r>
            <a:r>
              <a:rPr lang="en-US" dirty="0"/>
              <a:t> , China .</a:t>
            </a:r>
            <a:endParaRPr lang="pt-BR" dirty="0"/>
          </a:p>
          <a:p>
            <a:r>
              <a:rPr lang="en-US" dirty="0"/>
              <a:t> Lee </a:t>
            </a:r>
            <a:r>
              <a:rPr lang="en-US" dirty="0" err="1"/>
              <a:t>desenvolveu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reconhecimento</a:t>
            </a:r>
            <a:r>
              <a:rPr lang="en-US" dirty="0"/>
              <a:t> de </a:t>
            </a:r>
            <a:r>
              <a:rPr lang="en-US" dirty="0" err="1"/>
              <a:t>fala</a:t>
            </a:r>
            <a:r>
              <a:rPr lang="en-US" dirty="0"/>
              <a:t> </a:t>
            </a:r>
            <a:r>
              <a:rPr lang="en-US" dirty="0" err="1"/>
              <a:t>contínuo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 do locutor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Ph.D. </a:t>
            </a:r>
            <a:r>
              <a:rPr lang="en-US" dirty="0" err="1"/>
              <a:t>tese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Carnegie Mellon University . Mais </a:t>
            </a:r>
            <a:r>
              <a:rPr lang="en-US" dirty="0" err="1"/>
              <a:t>tarde</a:t>
            </a:r>
            <a:r>
              <a:rPr lang="en-US" dirty="0"/>
              <a:t>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trabalhou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executivo</a:t>
            </a:r>
            <a:r>
              <a:rPr lang="en-US" dirty="0"/>
              <a:t>,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Apple ,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SGI , Microsoft e Google .</a:t>
            </a:r>
            <a:endParaRPr lang="en-US" dirty="0">
              <a:cs typeface="Calibri"/>
            </a:endParaRPr>
          </a:p>
          <a:p>
            <a:r>
              <a:rPr lang="en-US" dirty="0"/>
              <a:t> Ele se </a:t>
            </a:r>
            <a:r>
              <a:rPr lang="en-US" dirty="0" err="1"/>
              <a:t>tornou</a:t>
            </a:r>
            <a:r>
              <a:rPr lang="en-US" dirty="0"/>
              <a:t> o </a:t>
            </a:r>
            <a:r>
              <a:rPr lang="en-US" dirty="0" err="1"/>
              <a:t>foco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disputa</a:t>
            </a:r>
            <a:r>
              <a:rPr lang="en-US" dirty="0"/>
              <a:t> legal </a:t>
            </a:r>
            <a:r>
              <a:rPr lang="en-US" dirty="0" err="1"/>
              <a:t>em</a:t>
            </a:r>
            <a:r>
              <a:rPr lang="en-US" dirty="0"/>
              <a:t> 2005 entre o Google e a Microsoft ,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antigo</a:t>
            </a:r>
            <a:r>
              <a:rPr lang="en-US" dirty="0"/>
              <a:t> </a:t>
            </a:r>
            <a:r>
              <a:rPr lang="en-US" dirty="0" err="1"/>
              <a:t>empregador</a:t>
            </a:r>
            <a:r>
              <a:rPr lang="en-US" dirty="0"/>
              <a:t>, </a:t>
            </a:r>
            <a:r>
              <a:rPr lang="en-US" dirty="0" err="1"/>
              <a:t>devido</a:t>
            </a:r>
            <a:r>
              <a:rPr lang="en-US" dirty="0"/>
              <a:t> a um </a:t>
            </a:r>
            <a:r>
              <a:rPr lang="en-US" dirty="0" err="1"/>
              <a:t>contrato</a:t>
            </a:r>
            <a:r>
              <a:rPr lang="en-US" dirty="0"/>
              <a:t> de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concorrência</a:t>
            </a:r>
            <a:r>
              <a:rPr lang="en-US" dirty="0"/>
              <a:t> de um </a:t>
            </a:r>
            <a:r>
              <a:rPr lang="en-US" dirty="0" err="1"/>
              <a:t>ano</a:t>
            </a:r>
            <a:r>
              <a:rPr lang="en-US" dirty="0"/>
              <a:t> que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assinou</a:t>
            </a:r>
            <a:r>
              <a:rPr lang="en-US" dirty="0"/>
              <a:t> com a Microsoft </a:t>
            </a:r>
            <a:r>
              <a:rPr lang="en-US" dirty="0" err="1"/>
              <a:t>em</a:t>
            </a:r>
            <a:r>
              <a:rPr lang="en-US" dirty="0"/>
              <a:t> 2000, </a:t>
            </a:r>
            <a:r>
              <a:rPr lang="en-US" dirty="0" err="1"/>
              <a:t>quando</a:t>
            </a:r>
            <a:r>
              <a:rPr lang="en-US" dirty="0"/>
              <a:t> se </a:t>
            </a:r>
            <a:r>
              <a:rPr lang="en-US" dirty="0" err="1"/>
              <a:t>tornou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vice-</a:t>
            </a:r>
            <a:r>
              <a:rPr lang="en-US" dirty="0" err="1"/>
              <a:t>presidente</a:t>
            </a:r>
            <a:r>
              <a:rPr lang="en-US" dirty="0"/>
              <a:t> </a:t>
            </a:r>
            <a:r>
              <a:rPr lang="en-US" dirty="0" err="1"/>
              <a:t>corporativo</a:t>
            </a:r>
            <a:r>
              <a:rPr lang="en-US" dirty="0"/>
              <a:t> de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interativos</a:t>
            </a:r>
            <a:r>
              <a:rPr lang="en-US" dirty="0"/>
              <a:t>. [1]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506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974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1881-2985-2C79-5907-DD084D63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2E292A-1847-1404-1925-2B46F6727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547FD3-01D5-6424-EB63-2BB7EB279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4EF39B-BCD0-4560-57B4-7C3BDC0D3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776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407D-A7D1-2BB5-B426-9ED4CB07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8CF3C2-52EF-C57D-6AF5-F05283DD9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513CD65-D728-0967-511D-FBBFDD6A4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D32F3-8B1F-5C57-7A04-DD5A6D2E5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75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3769-7988-05F9-7F27-61C133A4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ECF24A-1987-79E3-02D3-4E84F5826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4C694D-AD83-E9F6-0FB0-395E23458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92AEB-8397-B4F9-34EB-675234967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43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6296-6F23-D248-0A4C-06E60787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4C6981-6B8C-E29C-FB1C-91687A840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AA875E-A471-F9BC-07E7-1FF54866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2EC838-4F55-ED11-0694-95C369540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989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22D3-3E11-7206-6EC7-FA8D3B17B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A09167-21ED-C14D-EBBE-0FB50C4A1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F8E629-BE9A-9879-3C0A-8C85F06A6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22E315-C767-E730-B873-11CE66D1A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517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E00A-F4CF-8402-26AA-38EB1C48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E9B96D-3D0F-364D-1F0F-57920295F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E7E82A-D15B-EF09-0C31-613433CA3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C8AEC9-8056-35C6-32F4-916F19985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212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1AF6-F119-1745-8CC6-A7125DE1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7EC1BE-96A8-5B09-BA0C-100E84A7C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97E580-6DF2-D15C-7259-5C204F33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2E8A76-410A-FF36-D4B3-8F45DCFC8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434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F1F7-42B8-C36C-395C-939EBD3F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640E4B-BCA3-D449-F33B-2535E313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ACF343-068C-4FBE-A64A-07FE014ED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D7258F-3ED1-293F-62C1-1BB97A57E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414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6AB4-21A8-CEC4-76D8-0F2259DC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C0159A-1F75-07B0-D593-2B81E2FE2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0E1ABF-4615-DA84-F592-5C1654DD0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D2B0D1-626A-B35F-642F-32E677B05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239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1C7F-3AEF-BF29-45E6-685760B4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4AFE8E-4504-BAB8-46F6-38F540D68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389B89-0430-B370-B114-DEEBF5433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33BBD7-9AA4-7B04-3667-6FF4CDEF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439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D330-06B1-52F6-E08A-228846F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419C39-2197-D3C9-3E82-E22773573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121C10-3501-56E6-B188-3C956F6D8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F61183-F346-2C81-AF51-DA58F5A8D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307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8053-BF15-7B6E-8057-CC96E8998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BB73DC-8DC3-665C-2190-B683B5343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D68489-F890-D874-DC15-CA66A5DCE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F3B9E2-209B-95FA-1829-721688C94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118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AEA3-9C45-08B2-EA7D-41183F3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548627-F6F8-BC27-F36C-1E2759860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516FDC-679A-6A02-EE6A-8817F9A4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47EE2D-281A-B6C4-29D4-D6DF5EAC5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141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FA8F-14F6-0FC3-4C05-3259D550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5F5B64-8F49-3CD6-66DE-3B32DF66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B34A40-BC9E-51B6-CBF9-D0671D051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10F649-1EB0-ABE2-5965-0170A6F4A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398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82E14-4436-2A7F-E557-30A8E37D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1AA76B-08C3-9793-3662-893B289BF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872C77-9DF7-8338-A18E-BD4F05A2F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AA4239-2D36-C36D-507B-D1C8E90A9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945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995C-BE85-3433-430E-0E514D68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DD3520-E2E4-442D-547C-EC9BDBDEA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32684D-D565-AA1A-861A-AB3E5192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9AF50E-6E65-ED1D-7BA1-AA1A90EB6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640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C4D4-8158-CB88-34D4-EF34C0DF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7209A-C159-2572-38BE-A9080730A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F59E3-FE84-7372-6C69-80DC169F5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F6CA43-1394-BBD0-4E77-55C74E56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705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1" y="2759075"/>
            <a:ext cx="8975434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Internet e Segurança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História da Internet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Inteligência Artificial">
            <a:extLst>
              <a:ext uri="{FF2B5EF4-FFF2-40B4-BE49-F238E27FC236}">
                <a16:creationId xmlns:a16="http://schemas.microsoft.com/office/drawing/2014/main" id="{27F3F28B-E2DF-7452-5120-73A3D4AB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185" y="3064619"/>
            <a:ext cx="17214850" cy="654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tx1"/>
                </a:solidFill>
                <a:latin typeface="Montserrat ExtraBold"/>
              </a:rPr>
              <a:t>História da Internet</a:t>
            </a:r>
            <a:endParaRPr lang="pt-BR" sz="4950" b="1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BF337F2-7F98-AF1F-6D3B-EEC29D33AC7C}"/>
              </a:ext>
            </a:extLst>
          </p:cNvPr>
          <p:cNvSpPr txBox="1"/>
          <p:nvPr/>
        </p:nvSpPr>
        <p:spPr>
          <a:xfrm>
            <a:off x="1509065" y="3597275"/>
            <a:ext cx="169720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</a:t>
            </a:r>
            <a:r>
              <a:rPr lang="pt-BR" sz="4000" b="1" dirty="0"/>
              <a:t>Internet</a:t>
            </a:r>
            <a:r>
              <a:rPr lang="pt-BR" sz="4000" dirty="0"/>
              <a:t> é uma rede mundial de computadores interligados que permite a troca de informações entre usuários de todo o planeta.</a:t>
            </a:r>
          </a:p>
          <a:p>
            <a:endParaRPr lang="pt-BR" sz="4000" dirty="0"/>
          </a:p>
          <a:p>
            <a:r>
              <a:rPr lang="pt-BR" sz="4000" b="1" u="sng" dirty="0"/>
              <a:t>Origem: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Surgiu nos anos 1960 como um projeto militar dos EUA chamado ARPANET (</a:t>
            </a:r>
            <a:r>
              <a:rPr lang="pt-BR" sz="4000" dirty="0" err="1"/>
              <a:t>Advanced</a:t>
            </a:r>
            <a:r>
              <a:rPr lang="pt-BR" sz="4000" dirty="0"/>
              <a:t> </a:t>
            </a:r>
            <a:r>
              <a:rPr lang="pt-BR" sz="4000" dirty="0" err="1"/>
              <a:t>Research</a:t>
            </a:r>
            <a:r>
              <a:rPr lang="pt-BR" sz="4000" dirty="0"/>
              <a:t> </a:t>
            </a:r>
            <a:r>
              <a:rPr lang="pt-BR" sz="4000" dirty="0" err="1"/>
              <a:t>Projects</a:t>
            </a:r>
            <a:r>
              <a:rPr lang="pt-BR" sz="4000" dirty="0"/>
              <a:t> </a:t>
            </a:r>
            <a:r>
              <a:rPr lang="pt-BR" sz="4000" dirty="0" err="1"/>
              <a:t>Agency</a:t>
            </a:r>
            <a:r>
              <a:rPr lang="pt-BR" sz="4000" dirty="0"/>
              <a:t> Network).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Objetivo inicial: comunicação resistente a ataques nucleares.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6162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F4150-3D0A-1468-00C6-3D2FDA5C881A}"/>
              </a:ext>
            </a:extLst>
          </p:cNvPr>
          <p:cNvSpPr txBox="1"/>
          <p:nvPr/>
        </p:nvSpPr>
        <p:spPr>
          <a:xfrm>
            <a:off x="1537123" y="3044305"/>
            <a:ext cx="142494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Anos 1970: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Desenvolvimento do protocolo TCP/IP, essencial para a comunicação de redes.</a:t>
            </a:r>
          </a:p>
          <a:p>
            <a:endParaRPr lang="pt-BR" sz="4000" dirty="0"/>
          </a:p>
          <a:p>
            <a:r>
              <a:rPr lang="pt-BR" sz="4000" b="1" dirty="0"/>
              <a:t>Anos 1980: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 Internet começou a ser usada em universidades e centros de pesquisa.</a:t>
            </a:r>
          </a:p>
          <a:p>
            <a:endParaRPr lang="pt-BR" sz="4000" dirty="0"/>
          </a:p>
          <a:p>
            <a:r>
              <a:rPr lang="pt-BR" sz="4000" b="1" dirty="0"/>
              <a:t>Anos 1990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Criação da World </a:t>
            </a:r>
            <a:r>
              <a:rPr lang="pt-BR" sz="4000" dirty="0" err="1"/>
              <a:t>Wide</a:t>
            </a:r>
            <a:r>
              <a:rPr lang="pt-BR" sz="4000" dirty="0"/>
              <a:t> Web (WWW) por Tim Berners-Lee (1991), popularizando a internet para uso comercial e pessoal.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E75F012E-1CC3-B97B-D15C-B29C8E16C1A1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História da Internet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36417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4ECC-B260-B8F4-610E-421361A2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B794E60-6DA0-2FB8-8CE8-6F896B1D52D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2F61A1-387A-93DE-CA21-A180F243CA0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69A6B4-A801-0AF8-A540-BDC48C758AF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F848687-2E25-C205-9EE5-7157110F12E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005628-2A19-36FC-DB56-9BEDF73CDFB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816071-2A98-40F6-A8EC-D4DC5CCE3A1B}"/>
              </a:ext>
            </a:extLst>
          </p:cNvPr>
          <p:cNvSpPr txBox="1"/>
          <p:nvPr/>
        </p:nvSpPr>
        <p:spPr>
          <a:xfrm>
            <a:off x="1537123" y="3044305"/>
            <a:ext cx="14249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Hoje:</a:t>
            </a:r>
          </a:p>
          <a:p>
            <a:endParaRPr lang="pt-BR" sz="4000" b="1" dirty="0"/>
          </a:p>
          <a:p>
            <a:r>
              <a:rPr lang="pt-BR" sz="4000" dirty="0"/>
              <a:t>A Internet é essencial na vida pessoal, nos negócios, na educação, no governo e na sociedade como um todo.</a:t>
            </a:r>
          </a:p>
          <a:p>
            <a:endParaRPr lang="pt-BR" sz="4000" b="1" dirty="0"/>
          </a:p>
          <a:p>
            <a:r>
              <a:rPr lang="pt-BR" sz="4000" b="1" dirty="0"/>
              <a:t>✅ Resumo: </a:t>
            </a:r>
            <a:r>
              <a:rPr lang="pt-BR" sz="4000" dirty="0"/>
              <a:t>A internet evoluiu de um projeto militar para uma plataforma global de comunicação, comércio e entretenimento.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26810F3C-607C-F998-BE0D-C6922D9F3B57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História da Internet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6576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7F2D8-3BD0-1951-1694-31908A5C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5E82250-2E9D-2661-6B35-5F1DDFCB569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7FA9DF2-9387-B7BE-C6FD-15A17CF09B1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0FAB6E-60C4-1201-F252-6157E9E44E4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87E6BE3-4ADC-57C7-F02F-BA2F63B0154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1E8A1F-A3C4-5433-FF20-75AB76109DC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8C6D0F-1013-8106-EF5E-5009F493DF59}"/>
              </a:ext>
            </a:extLst>
          </p:cNvPr>
          <p:cNvSpPr txBox="1"/>
          <p:nvPr/>
        </p:nvSpPr>
        <p:spPr>
          <a:xfrm>
            <a:off x="1537122" y="3044306"/>
            <a:ext cx="1803992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E-mail: </a:t>
            </a:r>
            <a:r>
              <a:rPr lang="pt-BR" sz="4000" dirty="0"/>
              <a:t>Serviço de envio e recebimento de mensagens eletrônicas (Gmail, Outlook).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WWW (World </a:t>
            </a:r>
            <a:r>
              <a:rPr lang="pt-BR" sz="4000" b="1" dirty="0" err="1"/>
              <a:t>Wide</a:t>
            </a:r>
            <a:r>
              <a:rPr lang="pt-BR" sz="4000" b="1" dirty="0"/>
              <a:t> Web): </a:t>
            </a:r>
            <a:r>
              <a:rPr lang="pt-BR" sz="4000" dirty="0"/>
              <a:t>Sistema de documentos interligados e acessíveis via navegador (Chrome, Firefox)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Redes sociais: </a:t>
            </a:r>
            <a:r>
              <a:rPr lang="pt-BR" sz="4000" dirty="0"/>
              <a:t>Plataformas de interação social (Facebook, Instagram, LinkedIn).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Streaming: </a:t>
            </a:r>
            <a:r>
              <a:rPr lang="pt-BR" sz="4000" dirty="0"/>
              <a:t>Transmissão de conteúdo em tempo real (YouTube, Netflix, Spotify).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E-commerce: </a:t>
            </a:r>
            <a:r>
              <a:rPr lang="pt-BR" sz="4000" dirty="0"/>
              <a:t>Compras e vendas online (</a:t>
            </a:r>
            <a:r>
              <a:rPr lang="pt-BR" sz="4000" dirty="0" err="1"/>
              <a:t>Amazon</a:t>
            </a:r>
            <a:r>
              <a:rPr lang="pt-BR" sz="4000" dirty="0"/>
              <a:t>, Mercado Livre).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Cloud </a:t>
            </a:r>
            <a:r>
              <a:rPr lang="pt-BR" sz="4000" b="1" dirty="0" err="1"/>
              <a:t>Computing</a:t>
            </a:r>
            <a:r>
              <a:rPr lang="pt-BR" sz="4000" dirty="0"/>
              <a:t>: Armazenamento e processamento de dados na nuvem (Google Drive, Dropbox).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Mensageiros Instantâneos</a:t>
            </a:r>
            <a:r>
              <a:rPr lang="pt-BR" sz="4000" dirty="0"/>
              <a:t>: Comunicação rápida (WhatsApp, </a:t>
            </a:r>
            <a:r>
              <a:rPr lang="pt-BR" sz="4000" dirty="0" err="1"/>
              <a:t>Telegram</a:t>
            </a:r>
            <a:r>
              <a:rPr lang="pt-BR" sz="4000" dirty="0"/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Serviços bancários online: </a:t>
            </a:r>
            <a:r>
              <a:rPr lang="pt-BR" sz="4000" dirty="0"/>
              <a:t>Gerenciamento financeiro via internet (internet banking, Pix).</a:t>
            </a:r>
          </a:p>
        </p:txBody>
      </p:sp>
      <p:sp>
        <p:nvSpPr>
          <p:cNvPr id="2" name="object 71">
            <a:extLst>
              <a:ext uri="{FF2B5EF4-FFF2-40B4-BE49-F238E27FC236}">
                <a16:creationId xmlns:a16="http://schemas.microsoft.com/office/drawing/2014/main" id="{D25CB28D-9FA9-009A-638A-25DCB957E508}"/>
              </a:ext>
            </a:extLst>
          </p:cNvPr>
          <p:cNvSpPr txBox="1">
            <a:spLocks/>
          </p:cNvSpPr>
          <p:nvPr/>
        </p:nvSpPr>
        <p:spPr>
          <a:xfrm>
            <a:off x="1499171" y="1434430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tx1"/>
                </a:solidFill>
                <a:latin typeface="Montserrat ExtraBold"/>
              </a:rPr>
              <a:t>Serviços comuns na internet</a:t>
            </a:r>
            <a:endParaRPr lang="pt-BR" sz="4950" b="1" kern="0" spc="-15" dirty="0">
              <a:solidFill>
                <a:schemeClr val="tx1"/>
              </a:solidFill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142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D792-0199-BCD5-CC46-D52B51A4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7DB1B4-7E65-E05B-F471-3DD53FA8F0B1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DF687DC-DD16-3EE1-4598-A60B9CA0595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BC5F90-D65F-B094-71E4-6EBC8889377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AA5DFB-1F0A-203C-05D5-8DD986FD9E6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C8D9782-D1D0-BB61-68F2-C78079E9C4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0996795-B65F-CA5B-1F0C-F61EBB88C18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1285B42-6250-B470-A675-2B2A7A6970F0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D994D0D-E8CC-055D-189E-F9DA6D1C4B00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C7E92D3-4D0E-13DD-1056-30995FADB1A5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BECBDCF-2981-08ED-5903-52AF5B9488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CDDE09B-AEB7-9ED7-9B31-EC9420911E2F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E5206F4-7784-6995-37B9-752AAB734611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9B20D48-81AD-02A2-2F7F-2CF21351707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B5D6BC-4487-5757-5C40-FA9D830C33D3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C90056E-C356-87C9-EC68-8B0699D8CFD0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E417CC2-72CC-9C6A-4A07-B9E5CAEFE48F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BC7EBBC-EF31-CF7E-7CEB-C2449F885F38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4695BE2-88FA-3A4F-9D8D-1EFB66DDA588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C9C31C5-1E4A-4641-F9D8-B2841FF6CC1E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BDDE5BF-C78D-0C5D-D560-CAD9213B55C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370191E-245E-6749-1343-5F374939CA4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8FDF9AE-22AC-9313-3685-E1AE4FF8D96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FD51A35-7936-88AF-C7D1-A67A037362C2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9F39D4F-B547-71CD-F5DD-619A28A076B9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ECFB320-7797-4B91-1F53-9C66E3E6A85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9AE8EC4-0D71-6394-9532-DF19E32C7B5E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17786E1-FD57-5265-9A73-D577E726F3FF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0AE35B5-C244-4A3E-C6B6-2618E624718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64CB767-DC38-C414-8342-55CCA17F6379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3699E4A-0CC4-DAA8-81B8-F725475E5928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FFE5240-2EBC-CC2A-385C-A944EE826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6558" y="1392116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Segurança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2050" name="Picture 2" descr="Cibersegurança: o que é, importância, tipos e carreira na área - FIA">
            <a:extLst>
              <a:ext uri="{FF2B5EF4-FFF2-40B4-BE49-F238E27FC236}">
                <a16:creationId xmlns:a16="http://schemas.microsoft.com/office/drawing/2014/main" id="{3622149A-12F3-35F1-335C-F345FDD3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302" y="2652016"/>
            <a:ext cx="11453495" cy="763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82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Vulnerabilidade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</a:t>
            </a:r>
            <a:r>
              <a:rPr lang="pt-BR" sz="4000" b="1" dirty="0"/>
              <a:t>fraquezas</a:t>
            </a:r>
            <a:r>
              <a:rPr lang="pt-BR" sz="4000" dirty="0"/>
              <a:t> que podem ser exploradas por hackers, como: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Sistemas desatualizados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Senhas fracas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Aplicações mal programadas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Má configuração de redes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Desatenção do usuário (</a:t>
            </a:r>
            <a:r>
              <a:rPr lang="pt-BR" sz="4000" dirty="0" err="1"/>
              <a:t>phishing</a:t>
            </a:r>
            <a:r>
              <a:rPr lang="pt-BR" sz="4000" dirty="0"/>
              <a:t>, golpes).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3EE2-F61C-EECF-4BC5-5B9A8573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22654A4-B85F-A170-15D7-977F7991C8B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03533F6-2BA2-32AD-7884-8248A6FA8FA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E34E07-1601-3192-7591-8F1CA222FDF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C27A270-5559-6A75-7769-549CBBBBF01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91C791B-94CF-DD7A-E648-7CB9156F0B3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35CD8AC-ADE7-7148-5263-CF1E54118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Contramedidas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92A3B2-31AF-65C0-9ECC-4A98534E13D3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ações </a:t>
            </a:r>
            <a:r>
              <a:rPr lang="pt-BR" sz="4000" b="1" dirty="0"/>
              <a:t>preventivas</a:t>
            </a:r>
            <a:r>
              <a:rPr lang="pt-BR" sz="4000" dirty="0"/>
              <a:t> para proteger os sistemas: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Atualizar softwares regularmente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Criar senhas fortes (misturar letras, números e símbolos)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Usar antivírus e firewalls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Fazer backups frequentes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Educação dos usuários (saber identificar golpes)</a:t>
            </a:r>
          </a:p>
        </p:txBody>
      </p:sp>
    </p:spTree>
    <p:extLst>
      <p:ext uri="{BB962C8B-B14F-4D97-AF65-F5344CB8AC3E}">
        <p14:creationId xmlns:p14="http://schemas.microsoft.com/office/powerpoint/2010/main" val="386089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5D2B-DBE3-BCE8-8614-125BC970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3EBF70D-4A9E-48DC-A1A9-F20A61180B8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C890C8-0055-1FA1-F00B-9B21CEE1F52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D859ED-DE87-28AC-9F5C-374D867C197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1BD48FF-7501-9AA5-A03B-B82CF34AC66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882142-9ED8-6C71-3E38-0867202647E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05EAB43-8832-1C48-86F1-F55B7461C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Mitigação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815538-85D3-AB78-E761-A51D6B20E321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4000" dirty="0"/>
              <a:t>É o processo de reduzir os impactos de uma falha de segurança. Exemplos:</a:t>
            </a:r>
          </a:p>
          <a:p>
            <a:pPr>
              <a:buNone/>
            </a:pPr>
            <a:endParaRPr lang="pt-BR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Planos de recuperação de desastres (DRP - </a:t>
            </a:r>
            <a:r>
              <a:rPr lang="pt-BR" sz="4000" dirty="0" err="1"/>
              <a:t>Disaster</a:t>
            </a:r>
            <a:r>
              <a:rPr lang="pt-BR" sz="4000" dirty="0"/>
              <a:t> Recovery </a:t>
            </a:r>
            <a:r>
              <a:rPr lang="pt-BR" sz="4000" dirty="0" err="1"/>
              <a:t>Plan</a:t>
            </a:r>
            <a:r>
              <a:rPr lang="pt-BR" sz="4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Redundância de sistemas (ter servidores de reserva)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Monitoramento constante da rede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Resposta rápida a incidentes (equipes de resposta a incidentes, como CSIRT)</a:t>
            </a:r>
          </a:p>
        </p:txBody>
      </p:sp>
    </p:spTree>
    <p:extLst>
      <p:ext uri="{BB962C8B-B14F-4D97-AF65-F5344CB8AC3E}">
        <p14:creationId xmlns:p14="http://schemas.microsoft.com/office/powerpoint/2010/main" val="1217578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392D-5AFD-9C26-6F9F-B7B5EFBB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215335-CE37-9400-C695-1835FB326E0A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4818F2A-16CF-578F-12AD-84FF10CDDC0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CD806C-38A5-90BF-6B06-5B89A69E260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F6A0E4-AA5E-4980-0A61-5DF5AC45055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33E409E-F865-15B0-4D9B-3DDDB8D6715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ECEF1A-537F-109C-70DD-B4B8DBA77B1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D390DB5-09CA-A3F1-76A3-E00232420B98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49A7263-2598-9BA7-698B-16AF12E24023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C483A89-F03D-C7C8-3D36-4525DCC4011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3E67D64-48FE-A470-E999-B569D60D9A18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2A2E14D-66B1-2330-7364-87DFF2980700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AB1ED69-9B96-944E-2A89-E57478711CCF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47A4FA9-CC8E-F593-C269-CABC756197DF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C61685-B788-0279-B473-98D1C9B430F6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2E1CD76-D4DC-0DEB-61B4-58D4F984163F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541A5BB-686B-E9B3-1014-291CAD66D89D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C193952-CE07-23C5-DF60-5F4CDC1AA22A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B3B703A-C688-128C-4E6C-2E3F7DCAA82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7FCD14C-4DB1-D0AF-00EC-BDD866D46C5D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DAFD651-D63F-4D3D-D8D0-48C0A6FA607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4444D20-E6B1-78B5-2115-28CCE4F47CA7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3A60B77-BFDA-5F1D-4BA0-16C140C9CEFF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09BD6B-6423-780E-7CB6-4E41C07FC4E3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873A017-BA01-5DCB-15AA-6933A6A6CB2C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E5C74E4-86A1-28D7-AC08-7784F31B61FF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36DD605-05F8-2F36-F602-A11AD4D1E08F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7E301A4-76E5-E1F8-0AC4-1D367CD5FC0A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29163F9-7421-1F53-9AB2-B57ADFEE14F4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140451E-BB7E-62EC-C636-12DB799F90ED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E56FDE2-7018-24F1-2612-F320B4D4A99A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C7E35F00-4C32-0A79-CB54-D0D6E6A94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866" y="1279525"/>
            <a:ext cx="14031891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400" b="1" spc="-15" dirty="0">
                <a:solidFill>
                  <a:srgbClr val="F1F1F1"/>
                </a:solidFill>
                <a:latin typeface="Montserrat ExtraBold"/>
              </a:rPr>
              <a:t>🛡️ Tipos de Ataques Cibernéticos Comuns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074" name="Picture 2" descr="O que é vírus? [e a diferença para malware] • Tecnoblog">
            <a:extLst>
              <a:ext uri="{FF2B5EF4-FFF2-40B4-BE49-F238E27FC236}">
                <a16:creationId xmlns:a16="http://schemas.microsoft.com/office/drawing/2014/main" id="{67306559-7A67-8954-218C-277897544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012" y="3389194"/>
            <a:ext cx="11798075" cy="664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9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6A1F-7D4C-2120-C3D5-38EBE7A1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9FD23B0-9DFF-536D-5F79-6C5255B887A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E98558-71E8-1F6C-D10F-9E4820FA525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D036636-75A4-1F17-0C58-142D7E36228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4F20698-CC4E-D67E-6F5B-3E05D8C60D7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8C0BFD-2569-3B1A-0613-8EC5151EC69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2FAC01-6B4C-07F5-1648-D58657140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Malware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BA5968-E84A-2D01-5759-F1E3CB30CC0C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Malware</a:t>
            </a:r>
            <a:r>
              <a:rPr lang="pt-BR" sz="4000" dirty="0"/>
              <a:t> é a abreviação de "</a:t>
            </a:r>
            <a:r>
              <a:rPr lang="pt-BR" sz="4000" dirty="0" err="1"/>
              <a:t>Malicious</a:t>
            </a:r>
            <a:r>
              <a:rPr lang="pt-BR" sz="4000" dirty="0"/>
              <a:t> Software" (software malicioso).</a:t>
            </a:r>
          </a:p>
          <a:p>
            <a:r>
              <a:rPr lang="pt-BR" sz="4000" dirty="0"/>
              <a:t>São programas criados para infectar, danificar ou roubar informações de computadores, smartphones, redes e servidores.</a:t>
            </a:r>
          </a:p>
          <a:p>
            <a:endParaRPr lang="pt-BR" sz="4000" dirty="0"/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Resumo</a:t>
            </a:r>
            <a:r>
              <a:rPr lang="pt-BR" sz="4000" dirty="0"/>
              <a:t>: Malware é todo tipo de programa feito para causar prejuízo ou roubar dados.</a:t>
            </a:r>
          </a:p>
        </p:txBody>
      </p:sp>
    </p:spTree>
    <p:extLst>
      <p:ext uri="{BB962C8B-B14F-4D97-AF65-F5344CB8AC3E}">
        <p14:creationId xmlns:p14="http://schemas.microsoft.com/office/powerpoint/2010/main" val="41052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24DB-1CA4-6472-FE1A-7F0CDEDB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8CBB-65D8-63C8-16B0-A1AF110EEDF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A215D9-2427-9BB5-5D36-16E8C38D42C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1BC027-4662-223F-7764-4EAD2C8F8DC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7B725D6-05F6-843B-0A9F-56567B97BDA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AECC4CE-34FE-3773-C4FE-6856003B5DC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DFCB89-6FBB-8A83-1E3A-EE6272D4D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Exemplos de Malware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4266AB-C840-F230-1A36-F852A85FDC97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Vírus: </a:t>
            </a:r>
            <a:r>
              <a:rPr lang="pt-BR" sz="4000" dirty="0"/>
              <a:t>Se anexa a arquivos e se espalha ao serem executados.</a:t>
            </a:r>
          </a:p>
          <a:p>
            <a:endParaRPr lang="pt-BR" sz="4000" b="1" dirty="0"/>
          </a:p>
          <a:p>
            <a:r>
              <a:rPr lang="pt-BR" sz="4000" b="1" dirty="0"/>
              <a:t>Worms: </a:t>
            </a:r>
            <a:r>
              <a:rPr lang="pt-BR" sz="4000" dirty="0"/>
              <a:t>Se espalham automaticamente pela rede sem precisar de ação do usuário.</a:t>
            </a:r>
          </a:p>
          <a:p>
            <a:endParaRPr lang="pt-BR" sz="4000" b="1" dirty="0"/>
          </a:p>
          <a:p>
            <a:r>
              <a:rPr lang="pt-BR" sz="4000" b="1" dirty="0"/>
              <a:t>Trojans (Cavalos de Troia): </a:t>
            </a:r>
            <a:r>
              <a:rPr lang="pt-BR" sz="4000" dirty="0"/>
              <a:t>Se disfarçam como programas legítimos, mas abrem portas para invasões.</a:t>
            </a:r>
          </a:p>
          <a:p>
            <a:endParaRPr lang="pt-BR" sz="4000" b="1" dirty="0"/>
          </a:p>
          <a:p>
            <a:r>
              <a:rPr lang="pt-BR" sz="4000" b="1" dirty="0" err="1"/>
              <a:t>Spyware</a:t>
            </a:r>
            <a:r>
              <a:rPr lang="pt-BR" sz="4000" b="1" dirty="0"/>
              <a:t>: </a:t>
            </a:r>
            <a:r>
              <a:rPr lang="pt-BR" sz="4000" dirty="0"/>
              <a:t>Espiona atividades do usuário.</a:t>
            </a:r>
          </a:p>
          <a:p>
            <a:endParaRPr lang="pt-BR" sz="4000" b="1" dirty="0"/>
          </a:p>
          <a:p>
            <a:r>
              <a:rPr lang="pt-BR" sz="4000" b="1" dirty="0"/>
              <a:t>Adware: </a:t>
            </a:r>
            <a:r>
              <a:rPr lang="pt-BR" sz="4000" dirty="0"/>
              <a:t>Exibe anúncios indesejados.</a:t>
            </a:r>
          </a:p>
        </p:txBody>
      </p:sp>
    </p:spTree>
    <p:extLst>
      <p:ext uri="{BB962C8B-B14F-4D97-AF65-F5344CB8AC3E}">
        <p14:creationId xmlns:p14="http://schemas.microsoft.com/office/powerpoint/2010/main" val="335338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8D44-D629-BE2F-035C-49BB9D1A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5AE8A96-A08A-4780-74D2-583880435C5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B127B-4666-0A8A-2229-BA2125E0BCC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097768-6A63-38A4-1611-1D3C79A3CE3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BEC850-0685-CF95-25FC-65013443DBD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746CAD-6045-718B-BBEE-385178D0146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F6B7B7-E474-23EA-5C54-5279287E4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 err="1">
                <a:latin typeface="Montserrat ExtraBold"/>
                <a:cs typeface="Montserrat ExtraBold"/>
              </a:rPr>
              <a:t>Ransomware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580920-18B9-1EAD-233E-DF5109AF28E3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/>
              <a:t>Ransomware</a:t>
            </a:r>
            <a:r>
              <a:rPr lang="pt-BR" sz="4000" dirty="0"/>
              <a:t> é um tipo específico de malware que sequestra o sistema ou arquivos da vítima e exige um resgate (normalmente em criptomoedas) para liberar o acesso.</a:t>
            </a:r>
          </a:p>
          <a:p>
            <a:endParaRPr lang="pt-BR" sz="4000" dirty="0"/>
          </a:p>
          <a:p>
            <a:r>
              <a:rPr lang="pt-BR" sz="4000" b="1" dirty="0"/>
              <a:t>Como funciona: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</a:t>
            </a:r>
            <a:r>
              <a:rPr lang="pt-BR" sz="4000" dirty="0" err="1"/>
              <a:t>ransomware</a:t>
            </a:r>
            <a:r>
              <a:rPr lang="pt-BR" sz="4000" dirty="0"/>
              <a:t> criptografa (trava) os arquivos do usuário.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 vítima recebe uma mensagem exigindo o pagamento do resgate para restaurar o acesso.</a:t>
            </a:r>
          </a:p>
        </p:txBody>
      </p:sp>
    </p:spTree>
    <p:extLst>
      <p:ext uri="{BB962C8B-B14F-4D97-AF65-F5344CB8AC3E}">
        <p14:creationId xmlns:p14="http://schemas.microsoft.com/office/powerpoint/2010/main" val="1666945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53D8-4432-B215-A1A4-4F27E403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D905D35-29A6-953A-490C-55BD5844AF8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3513DE-0FE5-EE22-0FE9-53CF9A38676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CB0B6D-6086-79EC-DFB0-D041E4F6E6F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3472C3D-70A0-1B6F-BDCA-AED681C06EB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244068-EF10-FEE7-12EB-70121D43A1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370D275-C7CC-A1C4-A63A-2554051D0E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Exemplos famoso </a:t>
            </a:r>
            <a:r>
              <a:rPr lang="pt-BR" sz="4950" b="1" spc="-15" dirty="0" err="1">
                <a:latin typeface="Montserrat ExtraBold"/>
                <a:cs typeface="Montserrat ExtraBold"/>
              </a:rPr>
              <a:t>Ransomware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41BAA1-A4C9-93FC-55E1-AB7388D2B64A}"/>
              </a:ext>
            </a:extLst>
          </p:cNvPr>
          <p:cNvSpPr txBox="1"/>
          <p:nvPr/>
        </p:nvSpPr>
        <p:spPr>
          <a:xfrm>
            <a:off x="1526491" y="3063875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WannaCry (2017): </a:t>
            </a:r>
            <a:r>
              <a:rPr lang="pt-BR" sz="4000" dirty="0"/>
              <a:t>Afetou hospitais, bancos e empresas no mundo inteiro.</a:t>
            </a:r>
          </a:p>
          <a:p>
            <a:endParaRPr lang="pt-BR" sz="4000" dirty="0"/>
          </a:p>
          <a:p>
            <a:r>
              <a:rPr lang="pt-BR" sz="4000" b="1" dirty="0"/>
              <a:t>Petya/NotPetya: </a:t>
            </a:r>
            <a:r>
              <a:rPr lang="pt-BR" sz="4000" dirty="0"/>
              <a:t>Outro grande ataque que paralisou operações globais.</a:t>
            </a:r>
          </a:p>
        </p:txBody>
      </p:sp>
    </p:spTree>
    <p:extLst>
      <p:ext uri="{BB962C8B-B14F-4D97-AF65-F5344CB8AC3E}">
        <p14:creationId xmlns:p14="http://schemas.microsoft.com/office/powerpoint/2010/main" val="228620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7E9D-5B64-5379-C25C-4D7D92CF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FC5F35D-D1BA-345D-6608-A751C760AFB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8F6558D-7C49-E879-9F51-AF5F56507C7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FC8806-1F6D-B092-DAAE-64C1D8A8898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4211C70-3E7B-FF6A-8E2E-EAEE0F626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58095EF-2791-0695-E4E8-EBDB4FBD20A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7C4F518-EFAC-B62D-FB64-CC5CF2F1C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DDoS (Distributed Denial of Service)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60D1C5-224D-ECDD-2811-60E5ED96E2E7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DDoS</a:t>
            </a:r>
            <a:r>
              <a:rPr lang="pt-BR" sz="4000" dirty="0"/>
              <a:t> significa </a:t>
            </a:r>
            <a:r>
              <a:rPr lang="pt-BR" sz="4000" b="1" dirty="0"/>
              <a:t>Ataque Distribuído de Negação de Serviço.</a:t>
            </a:r>
          </a:p>
          <a:p>
            <a:endParaRPr lang="pt-BR" sz="4000" dirty="0"/>
          </a:p>
          <a:p>
            <a:r>
              <a:rPr lang="pt-BR" sz="4000" b="1" dirty="0"/>
              <a:t>Como funciona: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Muitos computadores (geralmente zumbis, infectados por malware) atacam ao mesmo tempo um site ou servidor, sobrecarregando-o.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faz com que o site ou serviço fique fora do ar ou extremamente lento.</a:t>
            </a:r>
          </a:p>
        </p:txBody>
      </p:sp>
    </p:spTree>
    <p:extLst>
      <p:ext uri="{BB962C8B-B14F-4D97-AF65-F5344CB8AC3E}">
        <p14:creationId xmlns:p14="http://schemas.microsoft.com/office/powerpoint/2010/main" val="221154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5B1E-D6B6-022E-75CF-270D5E2A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B8BDD63-5D5D-D1A8-0F4C-D7CEEEF7BD3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8F1F6A-C219-6E16-DA99-6022E1D77F2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1A0968A-7BF6-27DE-2C3F-1A55BC167BF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2856E23-780D-CEA8-5653-E14B4C2A64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907DBA-1819-A82F-025C-DA2A1EB6CCB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1FCCCC-7AF3-E856-B743-B40EC8F07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DDoS (Distributed Denial of Service)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7F0635-7263-19B9-B12A-0CF8DD29AC0A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DDoS</a:t>
            </a:r>
            <a:r>
              <a:rPr lang="pt-BR" sz="4000" dirty="0"/>
              <a:t> significa </a:t>
            </a:r>
            <a:r>
              <a:rPr lang="pt-BR" sz="4000" b="1" dirty="0"/>
              <a:t>Ataque Distribuído de Negação de Serviço.</a:t>
            </a:r>
          </a:p>
          <a:p>
            <a:endParaRPr lang="pt-BR" sz="4000" dirty="0"/>
          </a:p>
          <a:p>
            <a:r>
              <a:rPr lang="pt-BR" sz="4000" b="1" dirty="0"/>
              <a:t>Como funciona: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Muitos computadores (geralmente zumbis, infectados por malware) atacam ao mesmo tempo um site ou servidor, sobrecarregando-o.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Isso faz com que o site ou serviço fique fora do ar ou extremamente lento.</a:t>
            </a:r>
          </a:p>
        </p:txBody>
      </p:sp>
    </p:spTree>
    <p:extLst>
      <p:ext uri="{BB962C8B-B14F-4D97-AF65-F5344CB8AC3E}">
        <p14:creationId xmlns:p14="http://schemas.microsoft.com/office/powerpoint/2010/main" val="193765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DE94-FBA7-3F0C-22BE-AB308C7A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13AA65A-18C7-F706-85F0-B8E489018DA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F4C394-E706-D0BA-D6AF-78A9B4B3F4E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724A54-6809-8621-8DBC-95921AFB4AD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0D67011-91AC-7239-E67D-226B1E71845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5665E4-C050-DC30-9C45-897C0B0333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7781297-624D-61B5-0B48-3AA5FF167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DDoS (Distributed Denial of Service)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30C74B-E42C-F5EB-1D9B-C38A3E3D3D23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Objetivos dos ataques </a:t>
            </a:r>
            <a:r>
              <a:rPr lang="pt-BR" sz="4000" b="1" dirty="0" err="1"/>
              <a:t>DDoS</a:t>
            </a:r>
            <a:r>
              <a:rPr lang="pt-BR" sz="4000" dirty="0"/>
              <a:t>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Prejudicar empresas.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Extorquir dinheiro (ameaça de ataque </a:t>
            </a:r>
            <a:r>
              <a:rPr lang="pt-BR" sz="4000" dirty="0" err="1"/>
              <a:t>DDoS</a:t>
            </a:r>
            <a:r>
              <a:rPr lang="pt-BR" sz="4000" dirty="0"/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Protestos digitais (hacktivismo).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Resumo</a:t>
            </a:r>
            <a:r>
              <a:rPr lang="pt-BR" sz="4000" dirty="0"/>
              <a:t>: </a:t>
            </a:r>
            <a:r>
              <a:rPr lang="pt-BR" sz="4000" dirty="0" err="1"/>
              <a:t>DDoS</a:t>
            </a:r>
            <a:r>
              <a:rPr lang="pt-BR" sz="4000" dirty="0"/>
              <a:t> é uma enxurrada de acessos falsos para derrubar sites e serviços.</a:t>
            </a:r>
          </a:p>
        </p:txBody>
      </p:sp>
    </p:spTree>
    <p:extLst>
      <p:ext uri="{BB962C8B-B14F-4D97-AF65-F5344CB8AC3E}">
        <p14:creationId xmlns:p14="http://schemas.microsoft.com/office/powerpoint/2010/main" val="606323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A68C-F168-B209-0FD7-F474A045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4FF691D-B483-4936-D78C-6DC8BAD8743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B28E4C-9BA4-579E-C8D9-11E33E15CB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0A080F1-3AA7-EFFC-0ED2-46A8D724B85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E38E39B-5382-677F-D1FC-F2AC9ED0F5D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E647698-831D-DB81-F8E6-880834510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381AAB-09BD-A166-E65E-B0FE163D3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Phishing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E7EF7D-5B10-98D3-9281-191FD0760408}"/>
              </a:ext>
            </a:extLst>
          </p:cNvPr>
          <p:cNvSpPr txBox="1"/>
          <p:nvPr/>
        </p:nvSpPr>
        <p:spPr>
          <a:xfrm>
            <a:off x="1522208" y="2785136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err="1"/>
              <a:t>Phishing</a:t>
            </a:r>
            <a:r>
              <a:rPr lang="pt-BR" sz="4000" dirty="0"/>
              <a:t> é uma técnica de enganar pessoas para roubar dados pessoais (como senhas, cartões de crédito, CPF).</a:t>
            </a:r>
          </a:p>
          <a:p>
            <a:endParaRPr lang="pt-BR" sz="4000" dirty="0"/>
          </a:p>
          <a:p>
            <a:r>
              <a:rPr lang="pt-BR" sz="4000" b="1" dirty="0"/>
              <a:t>Como funciona</a:t>
            </a:r>
            <a:r>
              <a:rPr lang="pt-BR" sz="4000" dirty="0"/>
              <a:t>:</a:t>
            </a:r>
          </a:p>
          <a:p>
            <a:endParaRPr lang="pt-BR" sz="4000" dirty="0"/>
          </a:p>
          <a:p>
            <a:r>
              <a:rPr lang="pt-BR" sz="4000" dirty="0"/>
              <a:t>A vítima recebe um e-mail falso, mensagem, ou link que parece ser de uma instituição confiável (</a:t>
            </a:r>
            <a:r>
              <a:rPr lang="pt-BR" sz="4000" dirty="0" err="1"/>
              <a:t>ex</a:t>
            </a:r>
            <a:r>
              <a:rPr lang="pt-BR" sz="4000" dirty="0"/>
              <a:t>: banco, loja famosa).</a:t>
            </a:r>
          </a:p>
          <a:p>
            <a:endParaRPr lang="pt-BR" sz="4000" dirty="0"/>
          </a:p>
          <a:p>
            <a:r>
              <a:rPr lang="pt-BR" sz="4000" b="1" dirty="0"/>
              <a:t>Ao clicar, a pessoa pode: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Ser levada para um site falso (cópia do original) e inserir seus dados.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Baixar arquivos maliciosos.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Entregar informações sigilosas sem perceber.</a:t>
            </a:r>
          </a:p>
        </p:txBody>
      </p:sp>
    </p:spTree>
    <p:extLst>
      <p:ext uri="{BB962C8B-B14F-4D97-AF65-F5344CB8AC3E}">
        <p14:creationId xmlns:p14="http://schemas.microsoft.com/office/powerpoint/2010/main" val="1010552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4621-A7F4-EEDB-99E8-E241EC30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4E69D06-C0E2-5819-037F-D23722D7303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0B64F56-D593-67D9-9698-A449EA8BA8E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19351D6-0963-66C4-5935-8B9F623FEAD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A261F8C-18D4-4310-4FA9-D4EFD140A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36933CF-814E-6582-0B17-167F48041C4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0879478-FF90-65C6-EE85-33B6FC3D9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287324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en-US" sz="4950" b="1" spc="-15" dirty="0">
                <a:latin typeface="Montserrat ExtraBold"/>
                <a:cs typeface="Montserrat ExtraBold"/>
              </a:rPr>
              <a:t> Phishing</a:t>
            </a:r>
            <a:endParaRPr lang="pt-BR" sz="4950" b="1" spc="-15" dirty="0">
              <a:latin typeface="Montserrat ExtraBold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E0B550-4230-7C3A-E27B-23AF33F863B4}"/>
              </a:ext>
            </a:extLst>
          </p:cNvPr>
          <p:cNvSpPr txBox="1"/>
          <p:nvPr/>
        </p:nvSpPr>
        <p:spPr>
          <a:xfrm>
            <a:off x="1596129" y="28352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Sinais de </a:t>
            </a:r>
            <a:r>
              <a:rPr lang="pt-BR" sz="4000" b="1" dirty="0" err="1"/>
              <a:t>Phishing</a:t>
            </a:r>
            <a:r>
              <a:rPr lang="pt-BR" sz="4000" b="1" dirty="0"/>
              <a:t>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Mensagens alarmantes ("Atualize sua senha AGORA!", "Você ganhou um prêmio!").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Erros de ortografia.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Endereços de e-mail suspeitos.</a:t>
            </a:r>
          </a:p>
          <a:p>
            <a:endParaRPr lang="pt-BR" sz="4000" dirty="0"/>
          </a:p>
          <a:p>
            <a:r>
              <a:rPr lang="pt-BR" sz="4000" dirty="0"/>
              <a:t>✅ </a:t>
            </a:r>
            <a:r>
              <a:rPr lang="pt-BR" sz="4000" b="1" dirty="0"/>
              <a:t>Resumo</a:t>
            </a:r>
            <a:r>
              <a:rPr lang="pt-BR" sz="4000" dirty="0"/>
              <a:t>: </a:t>
            </a:r>
            <a:r>
              <a:rPr lang="pt-BR" sz="4000" dirty="0" err="1"/>
              <a:t>Phishing</a:t>
            </a:r>
            <a:r>
              <a:rPr lang="pt-BR" sz="4000" dirty="0"/>
              <a:t> engana as pessoas para roubarem suas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399720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F051-AA5A-2EE6-E009-0C630A09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BA0E57-CBD4-7F2F-6D00-94E52005ED51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172B0DC-0224-ED88-EA7E-5D9775C4650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FFF322-69D0-F0FE-A2CC-15C51CCE6EF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0004D41-56C6-E4CE-5964-5F187DFFF70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2256318-1803-4819-B4F3-9B0B5E1C9B8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847870-7112-24D8-2823-50461381815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52AC30E-DACE-6111-ABA7-61AC5FE4223C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3C58566-1819-2415-877E-47F3D4A8B92D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444F877-9281-5EE3-65A9-3112F288431D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07EC77A-78F2-EBDF-8954-9066743501B5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E759F2F-FF4C-C4A8-C2F7-D12693405D2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AC71505-6197-9FE8-638A-268631525691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8A64918-C356-B141-30F5-62CEB896FF82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9B0E122-5D8E-FC23-E284-FFFFC679479D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DCF2AAD-F831-D854-BEB3-48A0523EB336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5192648-5555-5F8A-F7C5-DA7F1B6D014E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535D755-A28A-F639-C5D3-F6215649A85D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8644598-5518-AAC1-34A7-A6D22022AEAE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1E3E9F4-12DA-8B07-1012-ECFE65682EE0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09C22AF-8090-482E-F665-6B3A2E8FE29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DD84E85-EE77-08CF-1923-83C6F010990E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5BDD055-C1B5-6DB2-3870-D7B0E7A034A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86AE73B-724B-A4EB-9159-167017F3165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0FA3124A-7DAD-0471-17ED-684CEA441818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B4351F0-528D-82B0-AA74-64E8738FF12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051759C-F9E7-4571-0A27-4F7CE157FF7E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00E104E-B278-4EC7-8B8C-E4DB05644F2E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F35B426-402F-B290-11B7-348FCE8D0B4A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AAD92CF-0BBC-56B3-F93A-57F52940B4AB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B3A82B8-7AF1-17A7-EB44-70F60E74BF41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EAAD4A0-D240-5698-D743-F982C78B5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Resumo Geral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AE90952E-8B8E-F9A2-3246-9210F5DE8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81" y="3677585"/>
            <a:ext cx="14256538" cy="538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4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33FA-9818-D7D4-1385-EBE16EC6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8DBD85-F13F-D6CC-07A5-9A543437976D}"/>
              </a:ext>
            </a:extLst>
          </p:cNvPr>
          <p:cNvSpPr/>
          <p:nvPr/>
        </p:nvSpPr>
        <p:spPr>
          <a:xfrm>
            <a:off x="0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1BC1CB8-CED0-8D33-2A06-5E97611845B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563835-5632-6F58-85FD-2354C9907BE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B020F0-E722-3A16-D072-77786BDC9A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A8B080-8794-8ABC-5638-B1E23F8DB6B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353C626-45F0-3183-A463-4113336FBF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2F3764-8977-A62E-3E39-1FD4B3988916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D4376B8-DA26-C5D4-08DA-4C0237AC88F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17931A-023B-227D-9BC6-A0CD435CE8A9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4B48FF-131D-B664-9095-A7317CE1E93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DCCBAE3-44F6-D357-A029-2CC34BDA2BA0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5343A82-8185-4B6B-CD3E-6E5520B8E3E4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BB0543F-5E53-E8DD-0E2D-99FBD3A4528F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715C574-9BA8-7D38-7EE3-E18C2518CFE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60B0C22-DE70-98D0-479B-631B5492864B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0529C02-6032-5C7B-881B-3D5415FAEFF5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26732CE-BE7D-BB06-7886-C7AA55353C34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02620D7-2721-3E39-DDD4-D3802C67B34D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8AC8EE4-32E3-25FF-6938-CFD240E22095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6ABA93A-BEF4-94E8-9B8B-8D58035D578E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0E407B9-D97F-EE70-7C82-D6FEFF62E673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57DB04-9DBE-9707-52B6-A0BCAD67D1C4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50DACAE-BF55-2A72-E1EC-DED0D500C3D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7F7218D-085F-CB3D-3DF8-B4EB0CC74212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6073F96-E47A-D9C9-4554-4C24AE1B86F3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34DBF05-A1AC-BD46-258F-744C7C1446CD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B17F9E9-387B-AC72-1A22-171FFCFDA9C7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F55B319-60BF-42A5-8D13-E2135A0F3A92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B9F1B53-09E3-E1F0-5987-F1C4C45F05C7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E43F00B-424B-A91A-5205-B1E8E3A5F0C8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747F51A-6EA5-9950-7E50-A25399E731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Resumo Geral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482019DC-4B8B-BD5B-2386-870D2F6E3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07" y="3557055"/>
            <a:ext cx="13508485" cy="542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44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3769</TotalTime>
  <Words>4141</Words>
  <Application>Microsoft Office PowerPoint</Application>
  <PresentationFormat>Personalizar</PresentationFormat>
  <Paragraphs>241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Calibri</vt:lpstr>
      <vt:lpstr>-apple-system</vt:lpstr>
      <vt:lpstr>Arial</vt:lpstr>
      <vt:lpstr>Montserrat Light</vt:lpstr>
      <vt:lpstr>Montserrat ExtraBold</vt:lpstr>
      <vt:lpstr>Montserrat</vt:lpstr>
      <vt:lpstr>游ゴシック</vt:lpstr>
      <vt:lpstr>Office Theme</vt:lpstr>
      <vt:lpstr>Apresentação do PowerPoint</vt:lpstr>
      <vt:lpstr>História da Internet </vt:lpstr>
      <vt:lpstr>História da Internet</vt:lpstr>
      <vt:lpstr>Apresentação do PowerPoint</vt:lpstr>
      <vt:lpstr>Apresentação do PowerPoint</vt:lpstr>
      <vt:lpstr>Apresentação do PowerPoint</vt:lpstr>
      <vt:lpstr>Segurança </vt:lpstr>
      <vt:lpstr>Vulnerabilidade</vt:lpstr>
      <vt:lpstr>Contramedidas</vt:lpstr>
      <vt:lpstr>Mitigação</vt:lpstr>
      <vt:lpstr>🛡️ Tipos de Ataques Cibernéticos Comuns </vt:lpstr>
      <vt:lpstr>Malware</vt:lpstr>
      <vt:lpstr>Exemplos de Malware</vt:lpstr>
      <vt:lpstr>Ransomware</vt:lpstr>
      <vt:lpstr>Exemplos famoso Ransomware</vt:lpstr>
      <vt:lpstr> DDoS (Distributed Denial of Service)</vt:lpstr>
      <vt:lpstr> DDoS (Distributed Denial of Service)</vt:lpstr>
      <vt:lpstr> DDoS (Distributed Denial of Service)</vt:lpstr>
      <vt:lpstr> Phishing</vt:lpstr>
      <vt:lpstr> Phishing</vt:lpstr>
      <vt:lpstr>Resumo Geral </vt:lpstr>
      <vt:lpstr>Resumo Geral 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529</cp:revision>
  <cp:lastPrinted>2025-02-13T13:17:19Z</cp:lastPrinted>
  <dcterms:created xsi:type="dcterms:W3CDTF">2021-08-24T16:20:14Z</dcterms:created>
  <dcterms:modified xsi:type="dcterms:W3CDTF">2025-04-28T13:45:13Z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